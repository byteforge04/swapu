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737360"/>
            <a:ext cx="54864" cy="2377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73736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基于RAG的校园智能二手交易系统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280160" y="2560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设计与实现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3246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SwapU — 让校园闲置流转更智能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80160" y="3840480"/>
            <a:ext cx="274320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4114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答辩人：刘遥杰    指导教师：霞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武汉理工大学  计算机与人工智能学院  计算机科学与技术 zy2201班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0" y="5943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2026年5月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1371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80160"/>
            <a:ext cx="3474720" cy="502920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选题背景与意义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19202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校园闲置错配痛点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现有平台三方面错位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RAG技术引入与定位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28016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280160"/>
            <a:ext cx="3474720" cy="502920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1208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系统架构与技术栈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19202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五层架构 + 四种存储引擎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每个技术选型的依据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128016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1280160"/>
            <a:ext cx="3474720" cy="502920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6112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核心功能与创新点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0" y="19202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AI润色 / RAG导购 / 即时通讯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订单交易 / 后台管理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84048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840480"/>
            <a:ext cx="3474720" cy="502920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9044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6304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关键技术实现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44805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/ AES / 双轨同步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订单状态机 / ES搜索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80560" y="384048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0560" y="3840480"/>
            <a:ext cx="3474720" cy="502920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39044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21208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系统测试与结果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63440" y="44805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 / 性能 / 安全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三维度验证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0" y="384048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0" y="3840480"/>
            <a:ext cx="3474720" cy="502920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0" y="39044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96112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412480" y="44805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主要工作与创新点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不足与改进方向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2/22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00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选题背景与意义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校园闲置与刚需之间的结构性错配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每学期末宿舍楼下成摞的考研书、用了几个月的平板被淘汰，而新生群体年复一年存在刚性采购需求。二者之间存在明显的结构性错配，构建校园二手交易生态具有现实意义。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现有平台的三方面错位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651760"/>
            <a:ext cx="54864" cy="1143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249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信息匹配效率不足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0175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闲鱼、转转等平台优先推荐全国信用分最高的卖家，但学生关心的是对方在不在相邻宿舍楼。全国大市场的匹配策略在校园场景下效率低下。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931920"/>
            <a:ext cx="54864" cy="11430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0050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交易摩擦过大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2976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校园交易以当面交易为主，现有平台围绕快递网络设计交易流程，缺乏面交支持和校内导航能力。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521208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5212080"/>
            <a:ext cx="54864" cy="1143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52852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发布门槛偏高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55778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学生不愿为短期闲置品撰写详细描述，导致商品信息不完整，买家无法判断是否值得购买，交易转化率低。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SwapU 的解决思路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0" y="265176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2651760"/>
            <a:ext cx="1097280" cy="11430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27889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发布侧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3063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一键润色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80960" y="27432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卖家只需输入关键词，DeepSeek自动生成结构化商品描述。Prompt经十余版本迭代，合格率从40%提升至95%。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393192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0" y="3931920"/>
            <a:ext cx="1097280" cy="11430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40690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导购侧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4343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智能导购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80960" y="4023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买家用自然语言描述需求，系统先从PgVector检索真实在售商品，再注入上下文交由模型推荐，从源头防止AI幻觉。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521208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0" y="5212080"/>
            <a:ext cx="1097280" cy="11430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5349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交易侧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56235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校园当面交易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80960" y="5303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WebSocket即时沟通确认交易时间地点，支付宝沙箱完成支付闭环，校园内完成从发布到交易的全流程。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3/22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00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研究现状与RAG定位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从学术验证到工程落地的跨越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2801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1444752"/>
            <a:ext cx="45720" cy="177393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二手交易平台演进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国外：eBay信誉评分+Craigslist轻量发布+Poshmark社交电商。国内：闲鱼芝麻信用体系+转转3C质检验机。共同范式：C2C大市场撮合，缺乏校园场景针对性设计。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3730752"/>
            <a:ext cx="45720" cy="241401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搜索技术演进与RAG引入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97764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LIKE只能做字符串匹配，无法理解“考研资料”这类口语化查询。ES BM25+协同过滤解决了分词问题，但仍是关键词匹配。大语言模型突破了语义理解困境，但存在幻觉问题。RAG通过“先检索后生成”的思路，从根本上缓解了这一问题。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1280160"/>
            <a:ext cx="5029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技术原理 [Lewis et al., 2020]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0" y="16916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RAG的核心思想是“先检索后生成”：先从外部知识库检索最相关的真实数据，再将检索结果注入Prompt约束模型输出。模型的回答被限定在真实数据范围内，从根本上缓解幻觉。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3566160"/>
            <a:ext cx="5029200" cy="2743200"/>
          </a:xfrm>
          <a:prstGeom prst="roundRect">
            <a:avLst>
              <a:gd name="adj" fmla="val 33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SwapU 的定位与挑战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75120" y="402336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不满足于实验室验证RAG可行性，而是将其部署到真实校园交易场景。三个工程挑战：①商品库持续变动，向量数据如何保持一致？②用户查询口语化，向量检索阈值如何设置？③模型输出不可控，如何防止幻觉？本项目逐一给出了解决方案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4/22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00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系统架构设计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前后端分离B/S架构，五层结构，四种存储引擎各司其职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d:\SwapU\docs\thesis\thesis_images\img_ce8dc4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89" y="1188720"/>
            <a:ext cx="5373662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0" y="11887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系统采用前后端分离架构，Nginx反向代理将前端/api请求转发至后端8080端口。四种存储引擎各司其职：MySQL负责ACID事务、ES负责全文检索、PgVector负责向量检索、Redis负责缓存加速。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0" y="1828800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1828800"/>
            <a:ext cx="54864" cy="82296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0" y="1874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表现层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+ Element Plus + Pinia，Nginx反向代理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583680" y="2788920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83680" y="2788920"/>
            <a:ext cx="54864" cy="82296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网关控制层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LoginInterceptor JWT鉴权 + AdminInterceptor role=1校验 + GlobalLogAspect AOP审计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583680" y="3749040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83680" y="3749040"/>
            <a:ext cx="54864" cy="82296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0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业务逻辑层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858000" y="4069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Controller + 13 ServiceImpl，ItemServiceImpl依赖最密集，TradeOrderServiceImpl事务密度最高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0" y="4709160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583680" y="4709160"/>
            <a:ext cx="54864" cy="82296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0" y="4754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数据持久层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858000" y="5029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ACID写入 | Redis缓存 | ES全文检索 | PgVector向量检索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583680" y="5669280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583680" y="5669280"/>
            <a:ext cx="54864" cy="82296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27" name="Text 24"/>
          <p:cNvSpPr/>
          <p:nvPr/>
        </p:nvSpPr>
        <p:spPr>
          <a:xfrm>
            <a:off x="6858000" y="5715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基础设施层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858000" y="5989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RocketMQ消息驱动 | 支付宝沙箱 | Ollama bge-m3 | DeepSeek Chat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5/22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00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技术栈选型依据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每个技术选择都有明确的理由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28016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8016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350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 Spring Boot 3.2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75564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自动配置+起步依赖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降低项目搭建成本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29000" y="128016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28016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3350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 Vue 3 + Vite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175564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Composition API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Pinia状态管理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09360" y="128016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28016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3350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ORM  MyBatis-Plus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6520" y="175564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BaseMapper + IService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简化数据库操作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89720" y="128016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89720" y="128016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0" y="13350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  Elasticsearch 8.12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26880" y="175564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LIKE无法分词和高亮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ES是全文检索的必要选择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06324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06324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1181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  PgVector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353872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MySQL原生不支持向量检索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PgVector是RAG的必要组件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29000" y="306324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29000" y="306324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3566160" y="31181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  RocketMQ 5.1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66160" y="353872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延时消息30分钟超时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异步同步ES+PgVector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09360" y="306324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306324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31181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 Spring AI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353872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ChatClient抽象层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模型切换无需改业务代码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189720" y="306324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189720" y="306324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9326880" y="31181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 DeepSeek Chat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326880" y="353872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文案润色 + 智能导购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temperature=0.1润色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484632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48640" y="484632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" y="490118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  支付宝沙箱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5800" y="532180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RSA验签 + 幂等性检查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异步回调更新状态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429000" y="484632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429000" y="484632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45" name="Text 43"/>
          <p:cNvSpPr/>
          <p:nvPr/>
        </p:nvSpPr>
        <p:spPr>
          <a:xfrm>
            <a:off x="3566160" y="490118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  Redis 7.0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566160" y="532180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热点商品详情缓存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命中率 &gt; 95%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09360" y="484632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309360" y="484632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49" name="Text 47"/>
          <p:cNvSpPr/>
          <p:nvPr/>
        </p:nvSpPr>
        <p:spPr>
          <a:xfrm>
            <a:off x="6446520" y="490118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  MySQL 8.0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46520" y="532180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ACID事务 + 关联查询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系统主数据源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189720" y="484632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9189720" y="484632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53" name="Text 51"/>
          <p:cNvSpPr/>
          <p:nvPr/>
        </p:nvSpPr>
        <p:spPr>
          <a:xfrm>
            <a:off x="9326880" y="490118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  Ollama bge-m3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326880" y="532180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本地部署无需GPU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1024维向量生成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6/22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00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登录与首页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双角色登录 + 卡片式商品流 + ES全文搜索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d:\SwapU\docs\thesis\thesis_images\img_f93bbfa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68730"/>
            <a:ext cx="5303520" cy="3314700"/>
          </a:xfrm>
          <a:prstGeom prst="rect">
            <a:avLst/>
          </a:prstGeom>
        </p:spPr>
      </p:pic>
      <p:pic>
        <p:nvPicPr>
          <p:cNvPr id="8" name="Image 1" descr="d:\SwapU\docs\thesis\thesis_images\img_a1b8e6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68730"/>
            <a:ext cx="5303520" cy="33147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74320" y="484632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48640" y="4892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登录页面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" y="51663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支持普通用户/管理员双角色登录。密码采用BCrypt哈希加密存储，登录成功后签发JWT Token，前端存储在localStorage，后续请求通过Axios拦截器自动注入Authorization头。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217920" y="484632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492240" y="4892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首页商品列表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92240" y="51663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卡片式信息流展示在售商品，支持分类筛选和关键词搜索。搜索请求发往ES，支持IK分词和高亮渲染，提供最新/价格升降/热度四种排序方式。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7/22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00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AI文案润色 — 发布侧降低门槛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卖家只需输入关键词，AI自动生成结构化商品描述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d:\SwapU\docs\thesis\thesis_images\img_6f39e11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188720"/>
            <a:ext cx="5559552" cy="3474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0" y="118872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93408" y="1353312"/>
            <a:ext cx="45720" cy="16824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0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功能说明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040880" y="155448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卖家在发布页输入简要关键词（如“考研数学 张宇绿版 九成新”），点击AI润色按钮，后端调用DeepSeek Chat生成结构化商品描述，自动填充至描述框。这是一个单轮任务，不需要RAG检索。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3680" y="338328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93408" y="3547872"/>
            <a:ext cx="45720" cy="131673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704088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Prompt迭代过程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040880" y="37490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Prompt经过十余版本迭代：初始版本合格率仅40%，AI经常输出无关内容。通过增加输出格式约束、禁止项、示例引导等手段，合格率提升至95%。temperature设为0.1保证输出稳定性。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5212080"/>
            <a:ext cx="11430000" cy="73152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57200" y="53035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核心价值：发布门槛从“撰写详细描述”降低为“输入关键词”，商品信息质量和交易转化率显著提升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8/22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00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AI智能导购 — 导购侧RAG提升匹配效率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用自然语言描述需求，系统检索真实商品并生成推荐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d:\SwapU\docs\thesis\thesis_images\img_74beebc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10565"/>
            <a:ext cx="5943600" cy="283103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0" y="1188720"/>
            <a:ext cx="5029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93408" y="1353312"/>
            <a:ext cx="45720" cy="177393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0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功能说明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040880" y="155448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用自然语言描述需求（如“我想买一本考研数学复习资料”），系统先通过PgVector检索平台真实在售商品，再将检索结果注入Prompt交由模型生成推荐。返回AI文本+可点击商品卡片，实现从“需求”到“商品”的直达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3680" y="347472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93408" y="3639312"/>
            <a:ext cx="45720" cy="131673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7040880" y="3520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防幻觉机制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040880" y="38404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两层约束：① Prompt硬性指令“严禁编造不存在的商品”；② RAG事实锚点——每轮对话先检索平台真实在售商品，将检索结果注入上下文，从机制层面限制模型输出范围。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5303520"/>
            <a:ext cx="11430000" cy="73152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57200" y="53949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核心价值：从“关键词匹配”升级为“语义理解+事实锚点”，匹配精准度和用户信任度显著提升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9/22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00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RAG导购工作流详解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三步链路：向量检索 → 上下文拼接 → 推理封装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d:\SwapU\docs\thesis\thesis_images\img_a1392b1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148" y="1188720"/>
            <a:ext cx="5755943" cy="3200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0" y="1280160"/>
            <a:ext cx="53035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0" y="1280160"/>
            <a:ext cx="640080" cy="1508760"/>
          </a:xfrm>
          <a:prstGeom prst="roundRect">
            <a:avLst>
              <a:gd name="adj" fmla="val 11429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178040" y="1371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向量检索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178040" y="173736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bge-m3生成1024维向量→PgVector余弦相似度检索topK=3。similarityThreshold设为0.0，因为校园商品库有限，阈值过高会导致查询无果，由topK限制数量后交由模型判断相关性。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0" y="2971800"/>
            <a:ext cx="53035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2971800"/>
            <a:ext cx="640080" cy="1508760"/>
          </a:xfrm>
          <a:prstGeom prst="roundRect">
            <a:avLst>
              <a:gd name="adj" fmla="val 11429"/>
            </a:avLst>
          </a:prstGeom>
          <a:solidFill>
            <a:srgbClr val="1B2A4A"/>
          </a:solidFill>
          <a:ln/>
        </p:spPr>
      </p:sp>
      <p:sp>
        <p:nvSpPr>
          <p:cNvPr id="15" name="Text 12"/>
          <p:cNvSpPr/>
          <p:nvPr/>
        </p:nvSpPr>
        <p:spPr>
          <a:xfrm>
            <a:off x="6446520" y="3154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7178040" y="3063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上下文拼接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178040" y="34290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检索结果注入System Prompt作为事实锚点，历史对话截取最近6条（3轮）保持上下文连贯。检索为空时不强行推荐，避免幻觉。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00800" y="4663440"/>
            <a:ext cx="53035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0800" y="4663440"/>
            <a:ext cx="640080" cy="1508760"/>
          </a:xfrm>
          <a:prstGeom prst="roundRect">
            <a:avLst>
              <a:gd name="adj" fmla="val 11429"/>
            </a:avLst>
          </a:prstGeom>
          <a:solidFill>
            <a:srgbClr val="1B2A4A"/>
          </a:solidFill>
          <a:ln/>
        </p:spPr>
      </p:sp>
      <p:sp>
        <p:nvSpPr>
          <p:cNvPr id="20" name="Text 17"/>
          <p:cNvSpPr/>
          <p:nvPr/>
        </p:nvSpPr>
        <p:spPr>
          <a:xfrm>
            <a:off x="6446520" y="4846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7178040" y="47548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推理与封装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178040" y="51206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chatClient.call()同步推理，返回AI文本+商品卡片数据。平均耗时3.5s（检索200ms+推理3s），后续可通过流式输出优化。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10/22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00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即时通讯与订单管理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WebSocket实时私信 + 支付宝沙箱支付闭环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d:\SwapU\docs\thesis\thesis_images\img_ae0637a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19451"/>
            <a:ext cx="5486400" cy="2613259"/>
          </a:xfrm>
          <a:prstGeom prst="rect">
            <a:avLst/>
          </a:prstGeom>
        </p:spPr>
      </p:pic>
      <p:pic>
        <p:nvPicPr>
          <p:cNvPr id="8" name="Image 1" descr="d:\SwapU\docs\thesis\thesis_images\img_a0a7b45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519396"/>
            <a:ext cx="5943600" cy="28133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74320" y="484632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48640" y="4892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WebSocket即时通讯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" y="51663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支持文本和图片消息，未读消息红点标识，消息持久化至数据库。买卖双方确认交易时间地点后，买家可直接下单进入支付流程。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943600" y="4846320"/>
            <a:ext cx="5943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217920" y="4892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订单管理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217920" y="516636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买入/卖出双视角查看订单，支持确认收货和评价。RocketMQ延时消息实现30分钟未支付自动取消，商品状态自动恢复在售。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11/22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00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后台管理与数据库设计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ECharts运营指标 + 五表ER设计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d:\SwapU\docs\thesis\thesis_images\img_ecb8add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11580"/>
            <a:ext cx="5486400" cy="3429000"/>
          </a:xfrm>
          <a:prstGeom prst="rect">
            <a:avLst/>
          </a:prstGeom>
        </p:spPr>
      </p:pic>
      <p:pic>
        <p:nvPicPr>
          <p:cNvPr id="8" name="Image 1" descr="d:\SwapU\docs\thesis\thesis_images\img_b494298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7879" y="1188720"/>
            <a:ext cx="5615042" cy="34747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74320" y="484632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48640" y="4892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管理员Dashboard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" y="51663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ECharts展示运营指标，支持商品审核和举报处理。举报处理时联动更新物品状态并发送系统通知，确保平台内容安全。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943600" y="4846320"/>
            <a:ext cx="5943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217920" y="4892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核心数据库ER图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217920" y="516636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5个核心表：sys_user / item / trade_order / comment / report。采用第三范式设计，trade_order中冗余amount字段作为支付时的快照，避免商品价格变动影响历史订单。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12/22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00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JWT无状态认证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为什么选JWT？完整认证流程是怎样的？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2801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1444752"/>
            <a:ext cx="45720" cy="177393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选型理由：JWT vs Session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JWT无状态，Token自包含用户信息，服务端无需查询会话存储，水平扩展时任何实例均可独立验证。Session/Cookie方案需要额外搭建Redis Session，增加架构复杂度和单点故障风险。对于前后端分离架构，JWT更加天然适合。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53035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3730752"/>
            <a:ext cx="45720" cy="2596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完整认证流程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97764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用户登录 → JwtUtils.generateToken() 签发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前端localStorage存储Token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Axios拦截器注入 Authorization 请求头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LoginInterceptor.validateToken() 验证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解析Claims → userId/username/role 存入Request域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▸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Integer/Long类型兼容（JVM版本差异）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1645920"/>
            <a:ext cx="5029200" cy="4846320"/>
          </a:xfrm>
          <a:prstGeom prst="roundRect">
            <a:avLst>
              <a:gd name="adj" fmla="val 150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1783080"/>
            <a:ext cx="46634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JwtUtils.java — HMAC-SHA256签名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SecretKey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key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hmacShaKeyFor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getBytes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UTF_8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1000L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LoginInterceptor.java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token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request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getHeader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"Authorization"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claims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JwtUtils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validateToken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userIdObj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instanceof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request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setAttribute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"userId"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userIdObj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longValue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关键代码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13/22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00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AES字段加密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TypeHandler机制实现业务零感知加解密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28016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1444752"/>
            <a:ext cx="45720" cy="195681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加密方案与效果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采用MyBatis-Plus TypeHandler机制，在Java对象与数据库之间自动加解密。写入时encrypt()自动加密，读取时decrypt()自动解密。数据库中phone字段存储为Base64密文，API返回时自动解密为明文。即使数据库泄露，攻击者也无法获取手机号明文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53035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3913632"/>
            <a:ext cx="45720" cy="232257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为什么用TypeHandler而不是手动加密？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416052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TypeHandler是MyBatis的扩展点，对业务代码零侵入。在Entity的phone字段上加@TableField(typeHandler = AesEncryptTypeHandler.class)注解即可，所有SQL操作自动走加解密。如果手动加密，每个读写phone的地方都需要调用加解密工具，容易遗漏且难以维护。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1645920"/>
            <a:ext cx="5029200" cy="4663440"/>
          </a:xfrm>
          <a:prstGeom prst="roundRect">
            <a:avLst>
              <a:gd name="adj" fmla="val 156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1783080"/>
            <a:ext cx="46634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AesEncryptTypeHandler.java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setNonNullParameter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PreparedStatement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param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JdbcType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type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setString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AesEncryptUtils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encrypt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getNullableResult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ResultSet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getString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AesEncryptUtils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decrypt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Entity注解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@TableField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typeHandler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AesEncryptTypeHandler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phone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关键代码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14/22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00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RAG双轨同步策略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向量数据与MySQL商品记录如何保持一致？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核心问题：PgVector向量数据和ES索引数据必须与MySQL商品行记录保持一致，否则RAG检索会返回已下架或不存在的商品。本项目设计了双轨同步策略。</a:t>
            </a:r>
            <a:endParaRPr lang="en-US" sz="1200" dirty="0"/>
          </a:p>
        </p:txBody>
      </p:sp>
      <p:pic>
        <p:nvPicPr>
          <p:cNvPr id="8" name="Image 0" descr="d:\SwapU\docs\thesis\thesis_images\img_dd555ab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512194"/>
            <a:ext cx="5943600" cy="155929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19202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920240"/>
            <a:ext cx="640080" cy="210312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2011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Ⅰ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178040" y="20116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第一轨：增量同步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78040" y="2377440"/>
            <a:ext cx="4297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RocketMQ消息驱动。MySQL事务完成后发送ItemSyncMessage，ItemSyncListener消费同步到ES和PgVector。MQ不可用时降级为同步直连，保证可用性。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0" y="42062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0" y="4206240"/>
            <a:ext cx="640080" cy="2103120"/>
          </a:xfrm>
          <a:prstGeom prst="roundRect">
            <a:avLst>
              <a:gd name="adj" fmla="val 11429"/>
            </a:avLst>
          </a:prstGeom>
          <a:solidFill>
            <a:srgbClr val="14B8A6"/>
          </a:solidFill>
          <a:ln/>
        </p:spPr>
      </p:sp>
      <p:sp>
        <p:nvSpPr>
          <p:cNvPr id="16" name="Text 13"/>
          <p:cNvSpPr/>
          <p:nvPr/>
        </p:nvSpPr>
        <p:spPr>
          <a:xfrm>
            <a:off x="6446520" y="4297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Ⅱ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178040" y="42976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第二轨：全量同步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178040" y="4663440"/>
            <a:ext cx="4297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管理员触发/admin/es/sync，遍历所有status=1的商品批量写入ES和PgVector。用于系统初始化或灾难恢复，确保数据绝对正确。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1520" y="484632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05840" y="50292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增量保实时 — 日常运行时数据时效性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全量保正确 — 兜底修复可能的不一致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15/22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00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订单状态机与支付安全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为什么用TransactionTemplate？支付安全怎么保证？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d:\SwapU\docs\thesis\thesis_images\img_8370a17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6695" y="1188720"/>
            <a:ext cx="3058770" cy="2286000"/>
          </a:xfrm>
          <a:prstGeom prst="rect">
            <a:avLst/>
          </a:prstGeom>
        </p:spPr>
      </p:pic>
      <p:pic>
        <p:nvPicPr>
          <p:cNvPr id="8" name="Image 1" descr="d:\SwapU\docs\thesis\thesis_images\img_2514cc9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674" y="1188720"/>
            <a:ext cx="2406732" cy="2286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31520" y="3657600"/>
            <a:ext cx="53035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841248" y="3822192"/>
            <a:ext cx="45720" cy="250545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1" name="Text 7"/>
          <p:cNvSpPr/>
          <p:nvPr/>
        </p:nvSpPr>
        <p:spPr>
          <a:xfrm>
            <a:off x="1188720" y="3703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编程式事务 TransactionTemplate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88720" y="406908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@Transactional是AOP代理，方法入口就开启事务，校验阶段也在事务中，导致长事务问题。TransactionTemplate允许在业务校验通过后才开启事务，订单创建+商品状态更新+延时消息发送在同一事务内完成。RocketMQ delayTimeLevel=16实现30分钟超时自动取消。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0" y="3657600"/>
            <a:ext cx="50292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10528" y="3822192"/>
            <a:ext cx="45720" cy="250545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5" name="Text 11"/>
          <p:cNvSpPr/>
          <p:nvPr/>
        </p:nvSpPr>
        <p:spPr>
          <a:xfrm>
            <a:off x="6858000" y="3703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支付安全三步验证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858000" y="406908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RSA验签：AlipaySignature.rsaCheckV1()验证回调确实来自支付宝。② 幂等性检查：先检查paymentStatus，已支付直接返回成功，防止重复处理。③ 双重回调保障：同步return和异步notify两条通道，本地开发无公网IP时异步回调可能无法到达。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16/22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00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Elasticsearch搜索与自动补全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BoolQuery多层嵌套 + IK分词 + 方案变更过程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645920"/>
            <a:ext cx="5303520" cy="4663440"/>
          </a:xfrm>
          <a:prstGeom prst="roundRect">
            <a:avLst>
              <a:gd name="adj" fmla="val 156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78308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ItemServiceImpl.search()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NativeQuery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withQuery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must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"status"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must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kb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kb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"title"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kb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"description"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withHighlightQuery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HighlightQuery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280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核心查询代码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280160"/>
            <a:ext cx="5029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0528" y="1444752"/>
            <a:ext cx="45720" cy="195681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搜索功能说明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169164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BoolQuery多层嵌套DSL：外层must约束status=1（必须在售），内层should匹配title和description。IK分词器支持中文语义切分，HighlightQuery实现关键词高亮渲染。支持四种排序：最新/价格升/价格降/最热。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3749040"/>
            <a:ext cx="50292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10528" y="3913632"/>
            <a:ext cx="45720" cy="232257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自动补全方案变更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416052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最初尝试Completion Suggester，但要求字段类型为completion，与已有的text类型冲突，重新创建索引会影响线上服务。最终降级为match_phrase_prefix查询title字段，稳定且无需额外映射配置。这是一个典型的工程权衡：功能完备性 vs 线上稳定性。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17/22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00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6项核心测试用例全部通过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28016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280160"/>
            <a:ext cx="914400" cy="155448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417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UC-01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1737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登录与注册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0" y="14173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普通用户/管理员登录正常，空密码/错误密码异常提示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66360" y="160020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/>
        </p:spPr>
      </p:sp>
      <p:sp>
        <p:nvSpPr>
          <p:cNvPr id="13" name="Text 11"/>
          <p:cNvSpPr/>
          <p:nvPr/>
        </p:nvSpPr>
        <p:spPr>
          <a:xfrm>
            <a:off x="5166360" y="1627632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0" y="128016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280160"/>
            <a:ext cx="914400" cy="155448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417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UC-02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46520" y="1737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商品智能发布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98080" y="14173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AI润色合格率95%+，发布流程完整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835640" y="160020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/>
        </p:spPr>
      </p:sp>
      <p:sp>
        <p:nvSpPr>
          <p:cNvPr id="20" name="Text 18"/>
          <p:cNvSpPr/>
          <p:nvPr/>
        </p:nvSpPr>
        <p:spPr>
          <a:xfrm>
            <a:off x="10835640" y="1627632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31520" y="301752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017520"/>
            <a:ext cx="914400" cy="155448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1546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UC-03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34747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AI导购与检索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28800" y="31546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RAG检索真实商品，推荐可点击跳转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66360" y="333756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3364992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400800" y="301752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0" y="3017520"/>
            <a:ext cx="914400" cy="155448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31546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UC-04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46520" y="34747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线上交易订单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98080" y="31546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下单→支付→确认收货，完整链路状态迁移正确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835640" y="333756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/>
        </p:spPr>
      </p:sp>
      <p:sp>
        <p:nvSpPr>
          <p:cNvPr id="34" name="Text 32"/>
          <p:cNvSpPr/>
          <p:nvPr/>
        </p:nvSpPr>
        <p:spPr>
          <a:xfrm>
            <a:off x="10835640" y="3364992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731520" y="475488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1520" y="4754880"/>
            <a:ext cx="914400" cy="155448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4892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UC-05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7240" y="52120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订单超时取消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828800" y="48920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RocketMQ延时消息，30分钟自动取消+恢复在售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166360" y="507492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/>
        </p:spPr>
      </p:sp>
      <p:sp>
        <p:nvSpPr>
          <p:cNvPr id="41" name="Text 39"/>
          <p:cNvSpPr/>
          <p:nvPr/>
        </p:nvSpPr>
        <p:spPr>
          <a:xfrm>
            <a:off x="5166360" y="5102352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6400800" y="475488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400800" y="4754880"/>
            <a:ext cx="914400" cy="155448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44" name="Text 42"/>
          <p:cNvSpPr/>
          <p:nvPr/>
        </p:nvSpPr>
        <p:spPr>
          <a:xfrm>
            <a:off x="6446520" y="4892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UC-06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46520" y="52120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AES加密与越权防护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98080" y="48920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数据库密文/API明文，/admin/**返回403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0835640" y="507492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/>
        </p:spPr>
      </p:sp>
      <p:sp>
        <p:nvSpPr>
          <p:cNvPr id="48" name="Text 46"/>
          <p:cNvSpPr/>
          <p:nvPr/>
        </p:nvSpPr>
        <p:spPr>
          <a:xfrm>
            <a:off x="10835640" y="5102352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18/22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00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性能与安全测试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JMeter 200并发线程持续施压5分钟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性能测试结果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6858000" cy="4572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1714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46020" y="1783080"/>
            <a:ext cx="1714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平均响应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60520" y="1783080"/>
            <a:ext cx="1714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75020" y="1783080"/>
            <a:ext cx="1714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99%延迟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286000"/>
            <a:ext cx="6858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331720"/>
            <a:ext cx="1714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首页商品列表(ES)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46020" y="2331720"/>
            <a:ext cx="1714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45ms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60520" y="2331720"/>
            <a:ext cx="1714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&gt;2100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75020" y="2331720"/>
            <a:ext cx="1714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&lt;100ms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2788920"/>
            <a:ext cx="68580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834640"/>
            <a:ext cx="1714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商品搜索+高亮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46020" y="2834640"/>
            <a:ext cx="1714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60520" y="2834640"/>
            <a:ext cx="1714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~1800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75020" y="2834640"/>
            <a:ext cx="1714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&lt;150ms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3291840"/>
            <a:ext cx="6858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337560"/>
            <a:ext cx="1714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AI导购接口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46020" y="3337560"/>
            <a:ext cx="1714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3.5s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60520" y="3337560"/>
            <a:ext cx="1714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75020" y="3337560"/>
            <a:ext cx="17145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~5s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" y="3840480"/>
            <a:ext cx="6858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1248" y="4005072"/>
            <a:ext cx="45720" cy="104241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1188720" y="38862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性能结论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88720" y="420624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常规接口在200并发下表现稳定，未发现内存泄漏或线程死锁。AI接口瓶颈在模型推理（~3s），后续可通过流式输出和模型蒸馏优化。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安全测试结果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29600" y="173736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39328" y="1901952"/>
            <a:ext cx="45720" cy="149961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8595360" y="1783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AES加密验证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595360" y="210312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数据库phone为Base64密文，API返回自动解密为明文。泄露后无法获取明文。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229600" y="374904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339328" y="3913632"/>
            <a:ext cx="45720" cy="149961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8595360" y="3794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越权防护验证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595360" y="41148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普通用户/admin/**→403，删除他人商品→“无权操作”。AdminInterceptor校验role=1。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229600" y="57607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测试环境：4核8GB CentOS 7 | JDK 17 | MySQL 8.0 | Redis 7.0 | ES 8.12 | RocketMQ 5.1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19/22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00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主要工作与创新点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主要工作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737360"/>
            <a:ext cx="640080" cy="132588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20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18288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基础交易链路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219456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+ Vue 3完整闭环：发布→搜索→通讯→交易→支付。WebSocket即时通讯+支付宝沙箱支付闭环。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246120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246120"/>
            <a:ext cx="640080" cy="132588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29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3337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AI深度整合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70332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发布侧AI润色降低门槛（合格率95%+），导购侧RAG管线提升匹配效率，Prompt迭代调优收敛AI输出。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754880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754880"/>
            <a:ext cx="640080" cy="132588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937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4846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工程落地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52120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双轨同步保证向量数据一致性，TransactionTemplate精确控制事务，AES TypeHandler零侵入加密。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改进方向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0" y="1737360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1737360"/>
            <a:ext cx="640080" cy="1325880"/>
          </a:xfrm>
          <a:prstGeom prst="roundRect">
            <a:avLst>
              <a:gd name="adj" fmla="val 11429"/>
            </a:avLst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1920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23760" y="18288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推理延迟优化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23760" y="219456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同步→流式输出 chatClient.stream()，向量检索与Prompt拼接并行化，部署轻量蒸馏模型。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3246120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3246120"/>
            <a:ext cx="640080" cy="1325880"/>
          </a:xfrm>
          <a:prstGeom prst="roundRect">
            <a:avLst>
              <a:gd name="adj" fmla="val 11429"/>
            </a:avLst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3429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223760" y="3337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多模态检索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23760" y="370332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引入CLIP视觉-语言模型，商品图片生成Embedding，实现以图搜图能力。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4754880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0" y="4754880"/>
            <a:ext cx="640080" cy="1325880"/>
          </a:xfrm>
          <a:prstGeom prst="roundRect">
            <a:avLst>
              <a:gd name="adj" fmla="val 11429"/>
            </a:avLst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4937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223760" y="4846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移动端适配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223760" y="52120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响应式布局/微信小程序，覆盖校园手机使用场景。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20/22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高频答辩问题准备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8道核心Q&amp;A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350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" y="13350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为什么选JWT而不是Session？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175564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JWT无状态，水平扩展无需共享Session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29000" y="12801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28016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3350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77640" y="13350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RAG如何防止AI幻觉？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66160" y="175564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Prompt硬性指令 + RAG事实锚点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09360" y="12801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28016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3350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13350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向量数据如何与MySQL保持一致？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46520" y="175564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双轨同步：增量保实时，全量保正确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89720" y="12801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89720" y="128016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9281160" y="13350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738360" y="13350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为什么用TransactionTemplate？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0" y="175564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业务校验后才开启事务，避免长事务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0175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301752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0723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" y="30723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similarityThreshold为什么设0.0？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800" y="349300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校园商品库有限，避免查询无果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29000" y="30175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29000" y="301752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/>
        </p:spPr>
      </p:sp>
      <p:sp>
        <p:nvSpPr>
          <p:cNvPr id="33" name="Text 31"/>
          <p:cNvSpPr/>
          <p:nvPr/>
        </p:nvSpPr>
        <p:spPr>
          <a:xfrm>
            <a:off x="3520440" y="30723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977640" y="30723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为什么不用Spring Security？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66160" y="349300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权限模型简单，自定义拦截器更轻量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09360" y="30175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09360" y="301752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30723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58000" y="30723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AES为什么用TypeHandler？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46520" y="349300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对业务代码零侵入，注解即可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189720" y="30175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189720" y="301752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/>
        </p:spPr>
      </p:sp>
      <p:sp>
        <p:nvSpPr>
          <p:cNvPr id="43" name="Text 41"/>
          <p:cNvSpPr/>
          <p:nvPr/>
        </p:nvSpPr>
        <p:spPr>
          <a:xfrm>
            <a:off x="9281160" y="30723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738360" y="30723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自动补全为什么用match_phrase_prefix？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326880" y="349300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Completion Suggester mapping冲突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21/22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82880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敬请批评指正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0" y="3474720"/>
            <a:ext cx="210312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答辩人：刘遥杰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4297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基于RAG的校园智能二手交易系统设计与实现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武汉理工大学  计算机与人工智能学院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基于RAG的校园智能二手交易系统</dc:title>
  <dc:subject>PptxGenJS Presentation</dc:subject>
  <dc:creator>刘遥杰</dc:creator>
  <cp:lastModifiedBy>刘遥杰</cp:lastModifiedBy>
  <cp:revision>1</cp:revision>
  <dcterms:created xsi:type="dcterms:W3CDTF">2026-05-08T14:15:32Z</dcterms:created>
  <dcterms:modified xsi:type="dcterms:W3CDTF">2026-05-08T14:15:32Z</dcterms:modified>
</cp:coreProperties>
</file>